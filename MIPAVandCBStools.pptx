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0080625" cy="7559675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5.62%"/>
    <p:restoredTop sz="94.66%"/>
  </p:normalViewPr>
  <p:slideViewPr>
    <p:cSldViewPr snapToGrid="0">
      <p:cViewPr varScale="1">
        <p:scale>
          <a:sx n="75" d="100"/>
          <a:sy n="75" d="100"/>
        </p:scale>
        <p:origin x="144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slide" Target="slides/slide12.xml"/><Relationship Id="rId18" Type="http://purl.oclc.org/ooxml/officeDocument/relationships/slide" Target="slides/slide17.xml"/><Relationship Id="rId26" Type="http://purl.oclc.org/ooxml/officeDocument/relationships/slide" Target="slides/slide25.xml"/><Relationship Id="rId3" Type="http://purl.oclc.org/ooxml/officeDocument/relationships/slide" Target="slides/slide2.xml"/><Relationship Id="rId21" Type="http://purl.oclc.org/ooxml/officeDocument/relationships/slide" Target="slides/slide20.xml"/><Relationship Id="rId34" Type="http://purl.oclc.org/ooxml/officeDocument/relationships/presProps" Target="presProps.xml"/><Relationship Id="rId7" Type="http://purl.oclc.org/ooxml/officeDocument/relationships/slide" Target="slides/slide6.xml"/><Relationship Id="rId12" Type="http://purl.oclc.org/ooxml/officeDocument/relationships/slide" Target="slides/slide11.xml"/><Relationship Id="rId17" Type="http://purl.oclc.org/ooxml/officeDocument/relationships/slide" Target="slides/slide16.xml"/><Relationship Id="rId25" Type="http://purl.oclc.org/ooxml/officeDocument/relationships/slide" Target="slides/slide24.xml"/><Relationship Id="rId33" Type="http://purl.oclc.org/ooxml/officeDocument/relationships/handoutMaster" Target="handoutMasters/handoutMaster1.xml"/><Relationship Id="rId2" Type="http://purl.oclc.org/ooxml/officeDocument/relationships/slide" Target="slides/slide1.xml"/><Relationship Id="rId16" Type="http://purl.oclc.org/ooxml/officeDocument/relationships/slide" Target="slides/slide15.xml"/><Relationship Id="rId20" Type="http://purl.oclc.org/ooxml/officeDocument/relationships/slide" Target="slides/slide19.xml"/><Relationship Id="rId29" Type="http://purl.oclc.org/ooxml/officeDocument/relationships/slide" Target="slides/slide28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24" Type="http://purl.oclc.org/ooxml/officeDocument/relationships/slide" Target="slides/slide23.xml"/><Relationship Id="rId32" Type="http://purl.oclc.org/ooxml/officeDocument/relationships/notesMaster" Target="notesMasters/notesMaster1.xml"/><Relationship Id="rId37" Type="http://purl.oclc.org/ooxml/officeDocument/relationships/tableStyles" Target="tableStyles.xml"/><Relationship Id="rId5" Type="http://purl.oclc.org/ooxml/officeDocument/relationships/slide" Target="slides/slide4.xml"/><Relationship Id="rId15" Type="http://purl.oclc.org/ooxml/officeDocument/relationships/slide" Target="slides/slide14.xml"/><Relationship Id="rId23" Type="http://purl.oclc.org/ooxml/officeDocument/relationships/slide" Target="slides/slide22.xml"/><Relationship Id="rId28" Type="http://purl.oclc.org/ooxml/officeDocument/relationships/slide" Target="slides/slide27.xml"/><Relationship Id="rId36" Type="http://purl.oclc.org/ooxml/officeDocument/relationships/theme" Target="theme/theme1.xml"/><Relationship Id="rId10" Type="http://purl.oclc.org/ooxml/officeDocument/relationships/slide" Target="slides/slide9.xml"/><Relationship Id="rId19" Type="http://purl.oclc.org/ooxml/officeDocument/relationships/slide" Target="slides/slide18.xml"/><Relationship Id="rId31" Type="http://purl.oclc.org/ooxml/officeDocument/relationships/slide" Target="slides/slide30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slide" Target="slides/slide13.xml"/><Relationship Id="rId22" Type="http://purl.oclc.org/ooxml/officeDocument/relationships/slide" Target="slides/slide21.xml"/><Relationship Id="rId27" Type="http://purl.oclc.org/ooxml/officeDocument/relationships/slide" Target="slides/slide26.xml"/><Relationship Id="rId30" Type="http://purl.oclc.org/ooxml/officeDocument/relationships/slide" Target="slides/slide29.xml"/><Relationship Id="rId35" Type="http://purl.oclc.org/ooxml/officeDocument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purl.oclc.org/ooxml/officeDocument/relationships/theme" Target="../theme/theme3.xml"/></Relationships>
</file>

<file path=ppt/handoutMasters/handoutMaster1.xml><?xml version="1.0" encoding="utf-8"?>
<p:handoutMaster xmlns:a="http://purl.oclc.org/ooxml/drawingml/main" xmlns:r="http://purl.oclc.org/ooxml/officeDocument/relationships" xmlns:p="http://purl.oclc.org/ooxml/presentationml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AD5241-E50D-40F1-A495-3CE89648025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B1FEB-8F3B-41CC-80E3-CF7CBC6B1B0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/>
          <a:p>
            <a:pPr marL="0" marR="0" lvl="0" indent="0" algn="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31FC7-0CCD-4EAF-826D-E7956E8C505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3D737-35E1-4BB2-8EB2-E478A1EA92E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/>
          <a:p>
            <a:pPr marL="0" marR="0" lvl="0" indent="0" algn="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1063D686-CE34-4D0F-9AD6-3ACA868DC4B5}" type="slidenum">
              <a:t>‹#›</a:t>
            </a:fld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646496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09486-0D35-401D-8058-F9281E7F88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33CF6-9CD6-4768-8433-D041CD50A0A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24DC30B-BE31-4977-938E-F8D04DB35BF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99A34-E0F7-49A3-8E94-00A5140FDC7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459EC-BBE8-4F5D-93B9-B56CDC4D1296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9A8A0-703B-4415-A668-3C71BD9043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909E97A-A29E-4755-84D7-E7CDF5A65B1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43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GB" sz="2000" b="0" i="0" u="none" strike="noStrike" kern="1200" cap="none">
        <a:ln>
          <a:noFill/>
        </a:ln>
        <a:highlight>
          <a:scrgbClr r="0%" g="0%" b="0%">
            <a:alpha val="0%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.xml"/><Relationship Id="rId1" Type="http://purl.oclc.org/ooxml/officeDocument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purl.oclc.org/ooxml/officeDocument/relationships/slide" Target="../slides/slide4.xml"/><Relationship Id="rId1" Type="http://purl.oclc.org/ooxml/officeDocument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purl.oclc.org/ooxml/officeDocument/relationships/slide" Target="../slides/slide5.xml"/><Relationship Id="rId1" Type="http://purl.oclc.org/ooxml/officeDocument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purl.oclc.org/ooxml/officeDocument/relationships/slide" Target="../slides/slide6.xml"/><Relationship Id="rId1" Type="http://purl.oclc.org/ooxml/officeDocument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purl.oclc.org/ooxml/officeDocument/relationships/slide" Target="../slides/slide7.xml"/><Relationship Id="rId1" Type="http://purl.oclc.org/ooxml/officeDocument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purl.oclc.org/ooxml/officeDocument/relationships/slide" Target="../slides/slide8.xml"/><Relationship Id="rId1" Type="http://purl.oclc.org/ooxml/officeDocument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purl.oclc.org/ooxml/officeDocument/relationships/slide" Target="../slides/slide9.xml"/><Relationship Id="rId1" Type="http://purl.oclc.org/ooxml/officeDocument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purl.oclc.org/ooxml/officeDocument/relationships/slide" Target="../slides/slide10.xml"/><Relationship Id="rId1" Type="http://purl.oclc.org/ooxml/officeDocument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purl.oclc.org/ooxml/officeDocument/relationships/slide" Target="../slides/slide11.xml"/><Relationship Id="rId1" Type="http://purl.oclc.org/ooxml/officeDocument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purl.oclc.org/ooxml/officeDocument/relationships/slide" Target="../slides/slide12.xml"/><Relationship Id="rId1" Type="http://purl.oclc.org/ooxml/officeDocument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purl.oclc.org/ooxml/officeDocument/relationships/slide" Target="../slides/slide13.xml"/><Relationship Id="rId1" Type="http://purl.oclc.org/ooxml/officeDocument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purl.oclc.org/ooxml/officeDocument/relationships/slide" Target="../slides/slide14.xml"/><Relationship Id="rId1" Type="http://purl.oclc.org/ooxml/officeDocument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purl.oclc.org/ooxml/officeDocument/relationships/slide" Target="../slides/slide15.xml"/><Relationship Id="rId1" Type="http://purl.oclc.org/ooxml/officeDocument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purl.oclc.org/ooxml/officeDocument/relationships/slide" Target="../slides/slide16.xml"/><Relationship Id="rId1" Type="http://purl.oclc.org/ooxml/officeDocument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purl.oclc.org/ooxml/officeDocument/relationships/slide" Target="../slides/slide17.xml"/><Relationship Id="rId1" Type="http://purl.oclc.org/ooxml/officeDocument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purl.oclc.org/ooxml/officeDocument/relationships/slide" Target="../slides/slide18.xml"/><Relationship Id="rId1" Type="http://purl.oclc.org/ooxml/officeDocument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purl.oclc.org/ooxml/officeDocument/relationships/slide" Target="../slides/slide19.xml"/><Relationship Id="rId1" Type="http://purl.oclc.org/ooxml/officeDocument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purl.oclc.org/ooxml/officeDocument/relationships/slide" Target="../slides/slide20.xml"/><Relationship Id="rId1" Type="http://purl.oclc.org/ooxml/officeDocument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purl.oclc.org/ooxml/officeDocument/relationships/slide" Target="../slides/slide21.xml"/><Relationship Id="rId1" Type="http://purl.oclc.org/ooxml/officeDocument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purl.oclc.org/ooxml/officeDocument/relationships/slide" Target="../slides/slide22.xml"/><Relationship Id="rId1" Type="http://purl.oclc.org/ooxml/officeDocument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purl.oclc.org/ooxml/officeDocument/relationships/slide" Target="../slides/slide23.xml"/><Relationship Id="rId1" Type="http://purl.oclc.org/ooxml/officeDocument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purl.oclc.org/ooxml/officeDocument/relationships/slide" Target="../slides/slide24.xml"/><Relationship Id="rId1" Type="http://purl.oclc.org/ooxml/officeDocument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purl.oclc.org/ooxml/officeDocument/relationships/slide" Target="../slides/slide25.xml"/><Relationship Id="rId1" Type="http://purl.oclc.org/ooxml/officeDocument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purl.oclc.org/ooxml/officeDocument/relationships/slide" Target="../slides/slide26.xml"/><Relationship Id="rId1" Type="http://purl.oclc.org/ooxml/officeDocument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purl.oclc.org/ooxml/officeDocument/relationships/slide" Target="../slides/slide27.xml"/><Relationship Id="rId1" Type="http://purl.oclc.org/ooxml/officeDocument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purl.oclc.org/ooxml/officeDocument/relationships/slide" Target="../slides/slide28.xml"/><Relationship Id="rId1" Type="http://purl.oclc.org/ooxml/officeDocument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purl.oclc.org/ooxml/officeDocument/relationships/slide" Target="../slides/slide30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D55E2-CDBC-46A8-A98A-16524C9333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FD8E927-2136-4CE8-9B36-1953E2C12A1E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3AF76-D637-49DC-A016-BD673D7DAC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8B502-4EDF-4593-9148-D3950B1166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F5036-DB1D-4253-BBA0-87DC09F128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57D8459-BC1B-4BE8-8E8B-AD8916F99E31}" type="slidenum">
              <a:t>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4AC05-FA92-40C6-A6FA-D1FE73C2DD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DC05A-2F25-418C-B0F4-9C48BFB2B5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EF502-D1A3-4225-9CCB-36DFB631C32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82398F7-AFDD-4EC7-A421-5C92C5AF638B}" type="slidenum">
              <a:t>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375CF-0565-4372-A3FA-1B7D183130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A23BB-7E14-492E-984E-B911E7FD8D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80583-1DEC-4AF3-82A5-250D664D22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5AC2285-7A46-4252-B298-DD5732BA2C01}" type="slidenum">
              <a:t>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35705-62D6-430D-85FB-513BB65E83E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A76B-1E1E-4622-B2B3-631AB54F82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003B1-60C0-40CE-9303-D6BB7F68EF4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13ACF22-7270-466B-84E1-33418DA1EF7D}" type="slidenum">
              <a:t>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8FAE0-20A0-43A6-85DE-4C0E7E18D8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E80DE-A8C5-4E15-87D9-C4B5A8AD61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D8DB4-9778-4DEC-A88D-2D87DB1712C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D03802E-DFE9-4362-871B-BBF401914945}" type="slidenum">
              <a:t>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5A156-2534-4AB0-BF39-484BE91A1A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8A87E-70C0-4895-8D0E-468E0B468E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A7374-D5CB-4FD9-B64B-E0C447F808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3062352-E7A0-404F-AC0E-1F5AC028BBF7}" type="slidenum">
              <a:t>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C272A-9E1D-4F01-8030-8C0C4CBEB0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1C031-7446-4A7B-A261-4FBA7BA484D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0C8EB-A079-4BEE-9152-FFF69D61C8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8FF7AF0-2AE3-497C-9E24-B9E8BFA12613}" type="slidenum">
              <a:t>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95973-B25A-4777-BACC-C7EF13C8F5E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B55D9-7AB5-466C-8544-08483CE41D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50CCB-FE2B-44AD-95DC-F9765E2F27B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503309F-0050-4835-934D-52D61FA8A7D9}" type="slidenum">
              <a:t>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A7D99-D6C9-41BE-9A85-1E05691EC2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BD272-6A41-4399-B342-EB25D61BAD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F5A8C-8B0E-48DB-B875-E4E06FA8537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5169A31-E662-4DD0-89D6-244846257220}" type="slidenum">
              <a:t>10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1F666-11F5-4219-A07D-F9160337020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C50A0-EBF0-4482-95A8-9F9012A454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1AAC6-F02A-4256-AE11-F9B4D21CCD2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A3471BB-952C-4118-82CD-CD3B4AF18073}" type="slidenum">
              <a:t>11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85537-CB04-4546-8A3C-2AAE52129E0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8A684-10D9-4556-B0AA-7282946D95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8AB6F-AB29-457D-B893-47D0AA4E05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AC87EA-7509-4FC5-982A-7AB2A5910D4D}" type="slidenum">
              <a:t>12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90EFE-45BA-4EC5-8303-17EA5361156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FA734-F714-424C-8C6E-E0A30A5E00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0CDB3-0F92-4614-BCBC-1354DAE575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D8452BD-AADE-43F7-9DC9-9BC2B5E46C3D}" type="slidenum">
              <a:t>13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498A4-91F4-449E-B536-26110D4A309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A737D-A2A0-4F81-99DD-A90782DDFD9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11CE2-6AA7-4A35-87C2-B17604FAA9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E588D0A-A708-418B-9654-37C68BECB0AF}" type="slidenum">
              <a:t>14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93D0D-F342-4FF9-BEB7-92A8A35B0C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AE20F-4228-4407-8944-ED9C349B80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D6812-74AB-40BE-BB76-D5EB93A48FC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E694666-1F61-4200-B859-976239A7FF2F}" type="slidenum">
              <a:t>15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AD362-DB16-4FA4-BFE4-D5EB5C64E5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8907C-8BB5-4E58-922D-5E184DF45B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4B96B-1F73-40D1-BD96-3BEAFD6191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3F50876-3C7D-4BF4-97AC-E3DF337884B1}" type="slidenum">
              <a:t>16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E00D6-2CC1-4AE2-AF09-D5DA1147D2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E4716-9301-4342-BD9D-8885E35FD2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DC4CF-709D-45AD-AEB8-DCCA5319B1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CA69E1B-777C-4676-860D-D0A594B57450}" type="slidenum">
              <a:t>17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5E71E-897D-4F88-97E6-80A785FB825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3F53D-624E-42C1-9F95-94859A84B4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9A215-93F5-4067-90DD-E44C4A3B76B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A29B6A5-D74D-4EC2-AB87-EDDCBBDE6079}" type="slidenum">
              <a:t>18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D9948-DF48-4493-9D10-01D3F6C295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98B57-9345-45B8-835E-38BBF68D78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5E4F1-2811-479D-9F09-1317FC293A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47B9506-A07F-49BF-A96E-656CB2828C74}" type="slidenum">
              <a:t>19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CB5A4-3ABB-4A10-B755-2A08089405B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9EAE5-468D-4CE5-8E15-11A4A9CBA3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FA727-939D-413F-8701-170DD9FBA1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A54C463-3C6D-4ABD-BA93-6BE11A750CCC}" type="slidenum">
              <a:t>20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B86CE-DEC7-48A9-ACA2-420D4AC884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1C6C9-078F-45D5-A286-6F1507128E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15F87-C462-444E-87BD-E4F8B8356BB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4B69C1F-DA95-4BF0-BF65-8FA5A7B4EA34}" type="slidenum">
              <a:t>21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8D362-2F7B-4927-8962-04077C8EF40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289DB-A8D9-43E9-99CD-AEA5D515EC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12DFD-544D-45D1-9CC7-F02AE8F0A3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901A5A4-0790-4551-95B3-BB98DD0F8E46}" type="slidenum">
              <a:t>22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8E85A-DEB9-4F91-AF5A-CF339CAF06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D5E42-8F40-4D3D-B13E-90304CCF6A1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07726-ED08-47E1-B0DF-A1C458AA4E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FF3FE54-4B0E-4F2F-80EA-7A54112E3AAC}" type="slidenum">
              <a:t>23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130CD-222F-4417-A5AA-70EFF097918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CB1A6-34F5-4213-B2B7-F267DD5F198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591E5-3034-4472-AFA7-4A82DC5D35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0DBE40E-D8A5-41CE-AE47-BDC8FEB4AC94}" type="slidenum">
              <a:t>24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558AA-5745-48C5-9FE0-3BE749164C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7F9AB-65CD-4A33-BECA-0E71C7F728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3E8CE-65B6-46E3-BB85-F21ACF0A6EC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7514FBA-33E4-49C4-8DF6-D7E3972A6245}" type="slidenum">
              <a:t>25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9EB88-9C9B-4E37-9E8E-480DD6FC26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336E-C086-4C59-81DB-BD75F350C36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BC388-CF0F-4C0F-A409-02D1DEDB9A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35AA2A6-4FEA-4DF8-BACD-539FF10956AD}" type="slidenum">
              <a:t>26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90A75-48A2-4CCD-87C8-EABD0FC9F39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DA959-C869-4AD3-B439-5E13DFC9A9B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0B116-8CC2-4250-9561-A0A62ACEE4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E6ECB90-C20F-4EDB-A5E7-BA512545F21A}" type="slidenum">
              <a:t>27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64FBD-3DC9-4E28-A4AC-56CB2913A8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55423-30A6-4743-9179-6722A7F567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EE846-9185-409C-8B9F-4B10EE7150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CEBE7A1-6F2D-4C4D-9D2E-1B62F2641654}" type="slidenum">
              <a:t>28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94F14-7634-429C-B8B0-274315169F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07295-1790-4DD0-AE71-6A9DB6F42E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0EE2E-6776-477D-93D1-6133D46FBD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A88B398-7AB6-4C66-A341-8DBE58083031}" type="slidenum">
              <a:t>30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6213C-00B8-43BB-AED0-90B620F845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54F08-227F-45E4-9C92-019F953537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43D05-492F-47D0-898C-1F58D3A56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D4B67-CEBC-4F65-B5FB-E51B01210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32E3A-1971-4DDA-9B0B-8AF7E988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692C-8DE1-44FD-B48D-491D1902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B33AF-22BA-4BAB-A8D7-179EBFA5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F1B799-B3E9-4551-BFAE-B0C18235A1C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80311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A48F-DE3D-4A4E-A75A-711883DCD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5FD70-290F-4860-A474-46FEA6617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487AB-0591-4A45-9B2D-A1C4469A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EEEBF-BDF0-4CDC-BF51-5DF34C22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FE0AC-D66C-4AAE-8907-8A24E9F4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7E4700-8347-448B-BC14-E65A2F00109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661262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3AB76-A4A2-4BFA-AD60-1A9AFEC7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C6B39-4CCF-4464-8D5C-6F2773DD7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58A0-9ACA-42A9-AC44-514DF0A6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FDC98-2E27-4722-BD56-2D3E7B41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4C5C-9398-4544-830E-F32C6A8D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D7735D0-812A-42F9-B9B1-673DBE9DDF2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812856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05B3-829D-4229-AD89-EFA5B18E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3D9DA-6C5A-4265-B842-4271C33E3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EE2AF-1FB8-4C35-A77B-53E85027C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CE098-509C-4534-A059-C13F06A5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2360C-F64B-4CE5-A088-D056404D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B575B-EFDA-4DD1-92F0-B57F9864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C0FD3BE-FF34-4353-A461-AE368E98132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481860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E12B-EC15-48B8-8EDD-B64365CD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841FE-5546-4CC1-985A-195CEE831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43E01-F2A9-4D5F-808C-F37BB4AC2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4759B-36DE-47F5-8D49-86765DB7B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3890D-E5DE-4CB6-961D-FBDBC8CB3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DA39B4-D4BF-4065-9F22-DC02D6F93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BEDC3-878A-435B-89A4-B07CE1E4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0E83B-A024-467B-B3B3-2763EA25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5F62FF-7E41-4C64-A91A-E416881FDD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794523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AB38-1363-495F-A83B-7EE6590E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70646-A71A-4035-8337-F89B6F1B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A6EAE-98C9-4FD6-9983-2C2A5D7D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5F331-2636-4BD2-8D1A-03A0F28B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B1456B-8932-4BAE-B323-FE60FA6C2BB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30205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C1B5D-7654-4BD7-B3F0-2FCFB69A4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3064D-5F2D-4135-A981-01AFCA61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AD61D-3BCB-42CB-A7AB-B2C4566CB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EF3BDD9-A1CE-445F-A2AE-79EFD1B8707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2305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8C7C9-35A2-435D-934F-D6644EB1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997C1-B6A3-40B0-AA6C-1F9469E81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BF69-A0CF-4A67-BC3E-ED302BCC2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D45C-C0D4-440C-8A46-4A766FC4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FE515-8A9C-4C66-9106-45424D47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90A73-3E13-4D94-9BA1-6F2B2886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EF4328-30D1-4FAD-9A6C-2D89123FB64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828071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FA87-D71A-47D0-AA18-ACE2C2E3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AA8A0-73CC-491D-9E93-4C7777D8B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486DC-869B-4922-8828-3C769F8E7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394B2-AA25-4484-BB9C-C9DF51F9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EA759-CC4D-4304-905F-1CD9D48E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D924F-9CA5-43AC-B4D1-B9F7DFD4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EED151-B2E6-4903-AD0F-F4043E26526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129400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2BD7-162C-453D-B456-6F53BDC14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6E9F2-2C5C-4F95-8430-2DF90C4D2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5CF64-94B9-4E08-886E-E332F2DE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8C51F-3C7E-4F0A-AB50-BD605739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3C0A6-180A-48AC-8DC2-36B51004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85A9F19-B8EF-4600-BBF4-92EE992DB5E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55397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E0C6C9-1034-4A10-902E-FEF43F0CE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594E5-67FA-4211-9AA5-8F5331EA4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5BFEE-981C-4577-B0BB-5368020D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36324-58F3-4E00-B052-6B1C7404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A78F-44DD-4C4B-A711-EBDBB167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76113C-9E4F-4173-8F91-F05754CCD37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30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AEBFC-C4E3-4043-A5D1-5044C0FE36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64852-1105-4C31-9F3C-C7FB00BCB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9B479-B52A-4B42-A3BB-91DC7E18F7C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75B18-BA50-46BB-B14D-06953BCE830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85BEA-407E-486B-8F13-61FA53F32AD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148E62E1-B1A1-4E8C-A3E6-D568148B6CB8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GB" sz="4400" b="0" i="0" u="none" strike="noStrike" kern="1200" cap="none">
          <a:ln>
            <a:noFill/>
          </a:ln>
          <a:highlight>
            <a:scrgbClr r="0%" g="0%" b="0%">
              <a:alpha val="0%"/>
            </a:scrgbClr>
          </a:highlight>
          <a:latin typeface="Liberation Sans" pitchFamily="18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%" g="0%" b="0%">
              <a:alpha val="0%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purl.oclc.org/ooxml/officeDocument/relationships/hyperlink" Target="http://www.nitrc.org/projects/cbs-tools/" TargetMode="External"/><Relationship Id="rId2" Type="http://purl.oclc.org/ooxml/officeDocument/relationships/notesSlide" Target="../notesSlides/notesSlide1.xml"/><Relationship Id="rId1" Type="http://purl.oclc.org/ooxml/officeDocument/relationships/slideLayout" Target="../slideLayouts/slideLayout7.xml"/><Relationship Id="rId6" Type="http://purl.oclc.org/ooxml/officeDocument/relationships/image" Target="../media/image1.png"/><Relationship Id="rId5" Type="http://purl.oclc.org/ooxml/officeDocument/relationships/hyperlink" Target="http://stnava.github.io/ANTs/" TargetMode="External"/><Relationship Id="rId4" Type="http://purl.oclc.org/ooxml/officeDocument/relationships/hyperlink" Target="https://www.cbs.mpg.de/169392/cbs-tools-userguide.pdf" TargetMode="Externa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purl.oclc.org/ooxml/officeDocument/relationships/image" Target="../media/image1.png"/><Relationship Id="rId2" Type="http://purl.oclc.org/ooxml/officeDocument/relationships/notesSlide" Target="../notesSlides/notesSlide3.xml"/><Relationship Id="rId1" Type="http://purl.oclc.org/ooxml/officeDocument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.xml"/><Relationship Id="rId1" Type="http://purl.oclc.org/ooxml/officeDocument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purl.oclc.org/ooxml/officeDocument/relationships/hyperlink" Target="https://github.com/juhuntenburg/myelinconnect" TargetMode="External"/><Relationship Id="rId3" Type="http://purl.oclc.org/ooxml/officeDocument/relationships/hyperlink" Target="http://nighres.readthedocs.io/en/latest/" TargetMode="External"/><Relationship Id="rId7" Type="http://purl.oclc.org/ooxml/officeDocument/relationships/hyperlink" Target="https://doi.org/10.1093/cercor/bhx030" TargetMode="External"/><Relationship Id="rId2" Type="http://purl.oclc.org/ooxml/officeDocument/relationships/notesSlide" Target="../notesSlides/notesSlide5.xml"/><Relationship Id="rId1" Type="http://purl.oclc.org/ooxml/officeDocument/relationships/slideLayout" Target="../slideLayouts/slideLayout7.xml"/><Relationship Id="rId6" Type="http://purl.oclc.org/ooxml/officeDocument/relationships/hyperlink" Target="https://github.com/juhuntenburg" TargetMode="External"/><Relationship Id="rId5" Type="http://purl.oclc.org/ooxml/officeDocument/relationships/hyperlink" Target="https://github.com/piloubazin" TargetMode="External"/><Relationship Id="rId4" Type="http://purl.oclc.org/ooxml/officeDocument/relationships/hyperlink" Target="https://riojournal.com/article/12346/" TargetMode="External"/></Relationships>
</file>

<file path=ppt/slides/_rels/slide6.xml.rels><?xml version="1.0" encoding="UTF-8" standalone="yes"?>
<Relationships xmlns="http://schemas.openxmlformats.org/package/2006/relationships"><Relationship Id="rId3" Type="http://purl.oclc.org/ooxml/officeDocument/relationships/hyperlink" Target="https://nifti.nimh.nih.gov/nifti-1/documentation/nifti1fields/nifti1fields_pages/qsform_brief_usage/document_view" TargetMode="External"/><Relationship Id="rId2" Type="http://purl.oclc.org/ooxml/officeDocument/relationships/notesSlide" Target="../notesSlides/notesSlide6.xml"/><Relationship Id="rId1" Type="http://purl.oclc.org/ooxml/officeDocument/relationships/slideLayout" Target="../slideLayouts/slideLayout7.xml"/><Relationship Id="rId5" Type="http://purl.oclc.org/ooxml/officeDocument/relationships/hyperlink" Target="https://fsl.fmrib.ox.ac.uk/fsl/fslwiki/Orientation%20Explained" TargetMode="External"/><Relationship Id="rId4" Type="http://purl.oclc.org/ooxml/officeDocument/relationships/hyperlink" Target="http://gru.stanford.edu/doku.php/mrTools/coordinateTransforms" TargetMode="Externa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.xml"/><Relationship Id="rId1" Type="http://purl.oclc.org/ooxml/officeDocument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purl.oclc.org/ooxml/officeDocument/relationships/hyperlink" Target="http://www.paraview.org/" TargetMode="External"/><Relationship Id="rId2" Type="http://purl.oclc.org/ooxml/officeDocument/relationships/notesSlide" Target="../notesSlides/notesSlide8.xml"/><Relationship Id="rId1" Type="http://purl.oclc.org/ooxml/officeDocument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notesSlide" Target="../notesSlides/notesSlide9.xml"/><Relationship Id="rId1" Type="http://purl.oclc.org/ooxml/officeDocument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notesSlide" Target="../notesSlides/notesSlide10.xml"/><Relationship Id="rId1" Type="http://purl.oclc.org/ooxml/officeDocument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notesSlide" Target="../notesSlides/notesSlide11.xml"/><Relationship Id="rId1" Type="http://purl.oclc.org/ooxml/officeDocument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notesSlide" Target="../notesSlides/notesSlide12.xml"/><Relationship Id="rId1" Type="http://purl.oclc.org/ooxml/officeDocument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notesSlide" Target="../notesSlides/notesSlide13.xml"/><Relationship Id="rId1" Type="http://purl.oclc.org/ooxml/officeDocument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purl.oclc.org/ooxml/officeDocument/relationships/image" Target="../media/image3.png"/><Relationship Id="rId2" Type="http://purl.oclc.org/ooxml/officeDocument/relationships/notesSlide" Target="../notesSlides/notesSlide14.xml"/><Relationship Id="rId1" Type="http://purl.oclc.org/ooxml/officeDocument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5.xml"/><Relationship Id="rId1" Type="http://purl.oclc.org/ooxml/officeDocument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purl.oclc.org/ooxml/officeDocument/relationships/image" Target="../media/image4.png"/><Relationship Id="rId2" Type="http://purl.oclc.org/ooxml/officeDocument/relationships/notesSlide" Target="../notesSlides/notesSlide16.xml"/><Relationship Id="rId1" Type="http://purl.oclc.org/ooxml/officeDocument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purl.oclc.org/ooxml/officeDocument/relationships/image" Target="../media/image5.png"/><Relationship Id="rId2" Type="http://purl.oclc.org/ooxml/officeDocument/relationships/notesSlide" Target="../notesSlides/notesSlide17.xml"/><Relationship Id="rId1" Type="http://purl.oclc.org/ooxml/officeDocument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purl.oclc.org/ooxml/officeDocument/relationships/image" Target="../media/image5.png"/><Relationship Id="rId2" Type="http://purl.oclc.org/ooxml/officeDocument/relationships/notesSlide" Target="../notesSlides/notesSlide18.xml"/><Relationship Id="rId1" Type="http://purl.oclc.org/ooxml/officeDocument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purl.oclc.org/ooxml/officeDocument/relationships/image" Target="../media/image5.png"/><Relationship Id="rId2" Type="http://purl.oclc.org/ooxml/officeDocument/relationships/notesSlide" Target="../notesSlides/notesSlide19.xml"/><Relationship Id="rId1" Type="http://purl.oclc.org/ooxml/officeDocument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0.xml"/><Relationship Id="rId1" Type="http://purl.oclc.org/ooxml/officeDocument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purl.oclc.org/ooxml/officeDocument/relationships/image" Target="../media/image6.png"/><Relationship Id="rId2" Type="http://purl.oclc.org/ooxml/officeDocument/relationships/notesSlide" Target="../notesSlides/notesSlide21.xml"/><Relationship Id="rId1" Type="http://purl.oclc.org/ooxml/officeDocument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purl.oclc.org/ooxml/officeDocument/relationships/image" Target="../media/image7.png"/><Relationship Id="rId2" Type="http://purl.oclc.org/ooxml/officeDocument/relationships/notesSlide" Target="../notesSlides/notesSlide22.xml"/><Relationship Id="rId1" Type="http://purl.oclc.org/ooxml/officeDocument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3.xml"/><Relationship Id="rId1" Type="http://purl.oclc.org/ooxml/officeDocument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4.xml"/><Relationship Id="rId1" Type="http://purl.oclc.org/ooxml/officeDocument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5.xml"/><Relationship Id="rId1" Type="http://purl.oclc.org/ooxml/officeDocument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6.xml"/><Relationship Id="rId1" Type="http://purl.oclc.org/ooxml/officeDocument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purl.oclc.org/ooxml/officeDocument/relationships/image" Target="../media/image8.png"/><Relationship Id="rId2" Type="http://purl.oclc.org/ooxml/officeDocument/relationships/notesSlide" Target="../notesSlides/notesSlide27.xml"/><Relationship Id="rId1" Type="http://purl.oclc.org/ooxml/officeDocument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8.xml"/><Relationship Id="rId1" Type="http://purl.oclc.org/ooxml/officeDocument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purl.oclc.org/ooxml/officeDocument/relationships/hyperlink" Target="http://stnava.github.io/ANTs/" TargetMode="External"/><Relationship Id="rId2" Type="http://purl.oclc.org/ooxml/officeDocument/relationships/notesSlide" Target="../notesSlides/notesSlide29.xml"/><Relationship Id="rId1" Type="http://purl.oclc.org/ooxml/officeDocument/relationships/slideLayout" Target="../slideLayouts/slideLayout7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676B-D6CB-44AA-8118-B445BEABAF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F3006-D2E1-436D-95BA-56F99DF0B56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32359" y="2257200"/>
            <a:ext cx="9215640" cy="5312520"/>
          </a:xfrm>
        </p:spPr>
        <p:txBody>
          <a:bodyPr anchor="ctr"/>
          <a:lstStyle/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Install MIPAV: version 7.0.1 should work fine for CBS tools version 3.0.8</a:t>
            </a:r>
          </a:p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Install the CBS tools plugins: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Download from </a:t>
            </a: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  <a:hlinkClick r:id="rId3"/>
              </a:rPr>
              <a:t>http://www.nitrc.org/projects/cbs-tools/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 b="1" i="1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Plugins → Install plugin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Select the .jar files to install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Click </a:t>
            </a:r>
            <a:r>
              <a:rPr lang="en-GB" sz="2200" b="1" i="1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Install Plugin(s)</a:t>
            </a:r>
          </a:p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Make sure you have also installed: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The JIST-CRUISE plugin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The external-scripts plugin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endParaRPr lang="en-GB" sz="2200">
              <a:highlight>
                <a:scrgbClr r="0%" g="0%" b="0%">
                  <a:alpha val="0%"/>
                </a:scrgbClr>
              </a:highlight>
              <a:latin typeface="Liberation Sans" pitchFamily="18"/>
            </a:endParaRPr>
          </a:p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For more information on install, check the user guide:</a:t>
            </a:r>
          </a:p>
          <a:p>
            <a:pPr lvl="0" algn="l">
              <a:buSzPct val="45%"/>
              <a:buFont typeface="StarSymbol"/>
              <a:buChar char="●"/>
            </a:pPr>
            <a:r>
              <a:rPr lang="en-GB" sz="2200">
                <a:hlinkClick r:id="rId4"/>
              </a:rPr>
              <a:t>https://www.cbs.mpg.de/169392/cbs-tools-userguide.pdf</a:t>
            </a:r>
          </a:p>
          <a:p>
            <a:pPr lvl="0" algn="l">
              <a:buSzPct val="45%"/>
              <a:buFont typeface="StarSymbol"/>
              <a:buChar char="●"/>
            </a:pPr>
            <a:endParaRPr lang="en-GB" sz="2200"/>
          </a:p>
          <a:p>
            <a:pPr lvl="0" algn="l">
              <a:buSzPct val="45%"/>
              <a:buFont typeface="StarSymbol"/>
              <a:buChar char="●"/>
            </a:pPr>
            <a:r>
              <a:rPr lang="en-GB" sz="2200" b="1"/>
              <a:t>Note:</a:t>
            </a:r>
            <a:r>
              <a:rPr lang="en-GB" sz="2200"/>
              <a:t> some of the CBS tools (non linear co-registration, surface coregistraion) call bash scripts and have ANTS (</a:t>
            </a:r>
            <a:r>
              <a:rPr lang="en-GB" sz="2200">
                <a:hlinkClick r:id="rId5"/>
              </a:rPr>
              <a:t>http://stnava.github.io/ANTs/</a:t>
            </a:r>
            <a:r>
              <a:rPr lang="en-GB" sz="2200"/>
              <a:t>) as dependencies and might therefore not work on non UNIX operating systems.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963D2A24-BBC3-47C6-B4D3-19EB8A040CE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68200" y="1332000"/>
            <a:ext cx="9543600" cy="86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2C9E-BA85-4B09-A6F9-19DF9C1089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1A63B-66A3-425A-9504-224BE5FBB55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2808000"/>
            <a:ext cx="9071640" cy="3345479"/>
          </a:xfrm>
        </p:spPr>
        <p:txBody>
          <a:bodyPr anchor="ctr"/>
          <a:lstStyle/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Check memory usage: 24 Gb minimum</a:t>
            </a:r>
          </a:p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Allocate more if necessary: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 b="1" i="1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Help → Memory allocation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Will require to restart MIPAV</a:t>
            </a:r>
          </a:p>
          <a:p>
            <a:pPr lvl="0" algn="ctr"/>
            <a:endParaRPr lang="en-GB" sz="2200"/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7CEEA025-D9CE-4F81-B949-EDEC67D167B9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</a:blip>
          <a:srcRect/>
          <a:stretch>
            <a:fillRect/>
          </a:stretch>
        </p:blipFill>
        <p:spPr>
          <a:xfrm>
            <a:off x="268200" y="1332720"/>
            <a:ext cx="9543600" cy="8665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3C1F41D-5475-4D95-BEE8-C55872407250}"/>
              </a:ext>
            </a:extLst>
          </p:cNvPr>
          <p:cNvSpPr/>
          <p:nvPr/>
        </p:nvSpPr>
        <p:spPr>
          <a:xfrm>
            <a:off x="7219800" y="1801080"/>
            <a:ext cx="1584000" cy="432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000">
            <a:solidFill>
              <a:srgbClr val="FF3333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CA3BA972-AD22-481B-B6FD-C52CA85505B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8200" y="1332360"/>
            <a:ext cx="9543600" cy="866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7305E5A-1901-4B1A-A7F3-A2D269007B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82254B1-E6D8-4D30-AFAF-119D2816832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32359" y="2881080"/>
            <a:ext cx="9071640" cy="3345479"/>
          </a:xfrm>
        </p:spPr>
        <p:txBody>
          <a:bodyPr anchor="ctr"/>
          <a:lstStyle/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Start the JIST layout tools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 b="1" i="1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Plugins → JIST → JIST layout tools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endParaRPr lang="en-GB" sz="2200">
              <a:highlight>
                <a:scrgbClr r="0%" g="0%" b="0%">
                  <a:alpha val="0%"/>
                </a:scrgbClr>
              </a:highlight>
              <a:latin typeface="Liberation Sans" pitchFamily="18"/>
            </a:endParaRPr>
          </a:p>
          <a:p>
            <a:pPr lvl="0" algn="ctr"/>
            <a:endParaRPr lang="en-GB" sz="22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8F76756-A353-4AEC-B3F6-8C000E5E7339}"/>
              </a:ext>
            </a:extLst>
          </p:cNvPr>
          <p:cNvSpPr/>
          <p:nvPr/>
        </p:nvSpPr>
        <p:spPr>
          <a:xfrm>
            <a:off x="1944000" y="1584000"/>
            <a:ext cx="792000" cy="36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000">
            <a:solidFill>
              <a:srgbClr val="FF3333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18669F08-2419-41DC-A30F-458F55488E65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</a:blip>
          <a:srcRect/>
          <a:stretch>
            <a:fillRect/>
          </a:stretch>
        </p:blipFill>
        <p:spPr>
          <a:xfrm>
            <a:off x="268200" y="1332360"/>
            <a:ext cx="9543600" cy="866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41A8D36-CC4F-46F1-B30F-8F5DEF905E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E76277-0005-464C-98A0-BECB4838B3C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4359" y="2269800"/>
            <a:ext cx="9071640" cy="5000040"/>
          </a:xfrm>
        </p:spPr>
        <p:txBody>
          <a:bodyPr anchor="ctr"/>
          <a:lstStyle/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Start the JIST layout tools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 b="1" i="1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Plugins → JIST → JIST layout tools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endParaRPr lang="en-GB" sz="2200" b="1" i="1">
              <a:highlight>
                <a:scrgbClr r="0%" g="0%" b="0%">
                  <a:alpha val="0%"/>
                </a:scrgbClr>
              </a:highlight>
              <a:latin typeface="Liberation Sans" pitchFamily="18"/>
            </a:endParaRPr>
          </a:p>
          <a:p>
            <a:pPr lvl="0" algn="l">
              <a:buSzPct val="45%"/>
              <a:buFont typeface="StarSymbol"/>
              <a:buChar char="●"/>
            </a:pPr>
            <a:r>
              <a:rPr lang="en-GB" sz="2200"/>
              <a:t>The first time you do this you will have to: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Set the directory used for storing the JIST module definitions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Rebuild the libraries: </a:t>
            </a:r>
            <a:r>
              <a:rPr lang="en-GB" sz="2200" b="1" i="1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Project → Rebuild library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Set some Global Preferences: </a:t>
            </a:r>
            <a:r>
              <a:rPr lang="en-GB" sz="2200" b="1" i="1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Project → Global Preferences</a:t>
            </a:r>
          </a:p>
          <a:p>
            <a:pPr marL="0" lvl="2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Preferred data format: LayoutXML</a:t>
            </a:r>
          </a:p>
          <a:p>
            <a:pPr marL="0" lvl="2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Preferred compression: 'gzip' (‘bzip2 if you are space greedy)</a:t>
            </a:r>
          </a:p>
          <a:p>
            <a:pPr marL="0" lvl="2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Debug level: 0 or 1 (higher values make JIST more verbose)</a:t>
            </a:r>
          </a:p>
          <a:p>
            <a:pPr marL="0" lvl="2" indent="0" hangingPunct="0">
              <a:buSzPct val="45%"/>
              <a:buFont typeface="StarSymbol"/>
              <a:buChar char="●"/>
            </a:pPr>
            <a:endParaRPr lang="en-GB" sz="2200">
              <a:highlight>
                <a:scrgbClr r="0%" g="0%" b="0%">
                  <a:alpha val="0%"/>
                </a:scrgbClr>
              </a:highlight>
              <a:latin typeface="Liberation Sans" pitchFamily="18"/>
            </a:endParaRPr>
          </a:p>
          <a:p>
            <a:pPr lvl="0" algn="l">
              <a:buSzPct val="45%"/>
              <a:buFont typeface="StarSymbol"/>
              <a:buChar char="●"/>
            </a:pPr>
            <a:r>
              <a:rPr lang="en-GB" sz="2200" b="1"/>
              <a:t>Note 1:</a:t>
            </a:r>
            <a:r>
              <a:rPr lang="en-GB" sz="2200"/>
              <a:t> MIPAV and FSL are fine reading .nii.gz files directly but not SPM. You must first gunzip the files using the </a:t>
            </a:r>
            <a:r>
              <a:rPr lang="en-GB" sz="2200" i="1"/>
              <a:t>gunzip</a:t>
            </a:r>
            <a:r>
              <a:rPr lang="en-GB" sz="2200"/>
              <a:t> matlab command.</a:t>
            </a:r>
          </a:p>
          <a:p>
            <a:pPr lvl="0" algn="l">
              <a:buSzPct val="45%"/>
              <a:buFont typeface="StarSymbol"/>
              <a:buChar char="●"/>
            </a:pPr>
            <a:endParaRPr lang="en-GB" sz="2200"/>
          </a:p>
          <a:p>
            <a:pPr lvl="0" algn="l">
              <a:buSzPct val="45%"/>
              <a:buFont typeface="StarSymbol"/>
              <a:buChar char="●"/>
            </a:pPr>
            <a:r>
              <a:rPr lang="en-GB" sz="2200" b="1"/>
              <a:t>Note 2:</a:t>
            </a:r>
            <a:r>
              <a:rPr lang="en-GB" sz="2200"/>
              <a:t> Only volumes (.nii) will be compressed. Surface files (*.vtk) will not.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F9909C-3BD1-44AD-8245-7AF2FF02BA82}"/>
              </a:ext>
            </a:extLst>
          </p:cNvPr>
          <p:cNvSpPr/>
          <p:nvPr/>
        </p:nvSpPr>
        <p:spPr>
          <a:xfrm>
            <a:off x="1944000" y="1584000"/>
            <a:ext cx="792000" cy="36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000">
            <a:solidFill>
              <a:srgbClr val="FF3333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A00E-5B9B-40CC-A182-5E8D23B727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Python wrappers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4CC7A-D868-49AD-BAC8-D600FE44473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4359" y="1441800"/>
            <a:ext cx="9071640" cy="5000040"/>
          </a:xfrm>
        </p:spPr>
        <p:txBody>
          <a:bodyPr anchor="ctr"/>
          <a:lstStyle/>
          <a:p>
            <a:pPr lvl="0" algn="l">
              <a:buSzPct val="45%"/>
              <a:buFont typeface="StarSymbol"/>
              <a:buChar char="●"/>
            </a:pPr>
            <a:r>
              <a:rPr lang="en-GB" sz="2200" b="1"/>
              <a:t>Python wrappers for the CBS tools are available (no installation of MIPAV is required). Allows integration to nypipe &amp; cie.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  <a:hlinkClick r:id="rId3"/>
              </a:rPr>
              <a:t>http://nighres.readthedocs.io/en/latest/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  <a:hlinkClick r:id="rId4"/>
              </a:rPr>
              <a:t>https://riojournal.com/article/12346/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endParaRPr lang="en-GB" sz="2200">
              <a:highlight>
                <a:scrgbClr r="0%" g="0%" b="0%">
                  <a:alpha val="0%"/>
                </a:scrgbClr>
              </a:highlight>
              <a:latin typeface="Liberation Sans" pitchFamily="18"/>
            </a:endParaRP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For more check Pilou’s and Julia’s github repos</a:t>
            </a:r>
          </a:p>
          <a:p>
            <a:pPr marL="0" lvl="2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  <a:hlinkClick r:id="rId5"/>
              </a:rPr>
              <a:t>https://github.com/piloubazin</a:t>
            </a:r>
          </a:p>
          <a:p>
            <a:pPr marL="0" lvl="2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  <a:hlinkClick r:id="rId6"/>
              </a:rPr>
              <a:t>https://github.com/juhuntenburg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endParaRPr lang="en-GB" sz="2200" b="1">
              <a:highlight>
                <a:scrgbClr r="0%" g="0%" b="0%">
                  <a:alpha val="0%"/>
                </a:scrgbClr>
              </a:highlight>
              <a:latin typeface="Liberation Sans" pitchFamily="18"/>
            </a:endParaRPr>
          </a:p>
          <a:p>
            <a:pPr lvl="0" algn="l">
              <a:buSzPct val="45%"/>
              <a:buFont typeface="StarSymbol"/>
              <a:buChar char="●"/>
            </a:pPr>
            <a:r>
              <a:rPr lang="en-GB" sz="2200" b="1"/>
              <a:t>For more MIPAV / CBS tools layout (including high-res surface coregistration)</a:t>
            </a:r>
          </a:p>
          <a:p>
            <a:pPr marL="0" lvl="1" indent="0" hangingPunct="0">
              <a:buSzPct val="45%"/>
              <a:buFont typeface="StarSymbol"/>
              <a:buChar char="●"/>
            </a:pP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The code of Julia’s paper (</a:t>
            </a: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  <a:hlinkClick r:id="rId7"/>
              </a:rPr>
              <a:t>https://doi.org/10.1093/cercor/bhx030</a:t>
            </a: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) is there: </a:t>
            </a: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  <a:hlinkClick r:id="rId8"/>
              </a:rPr>
              <a:t>https://github.com/juhuntenburg/myelinconnect</a:t>
            </a:r>
            <a:r>
              <a:rPr lang="en-GB" sz="2200">
                <a:highlight>
                  <a:scrgbClr r="0%" g="0%" b="0%">
                    <a:alpha val="0%"/>
                  </a:scrgbClr>
                </a:highlight>
                <a:latin typeface="Liberation Sans" pitchFamily="18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0678B-CB59-4EDF-9552-81A0A52FF097}"/>
              </a:ext>
            </a:extLst>
          </p:cNvPr>
          <p:cNvSpPr txBox="1"/>
          <p:nvPr/>
        </p:nvSpPr>
        <p:spPr>
          <a:xfrm>
            <a:off x="474120" y="163080"/>
            <a:ext cx="9071640" cy="6874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ctr" hangingPunct="0">
              <a:buNone/>
              <a:tabLst/>
            </a:pPr>
            <a:r>
              <a:rPr lang="en-GB" sz="2200" b="1" i="0" u="sng" strike="noStrike" kern="1200" cap="none">
                <a:ln>
                  <a:noFill/>
                </a:ln>
                <a:solidFill>
                  <a:srgbClr val="FF3333"/>
                </a:solidFill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IMPORTANT to know when using SPM and MIPAV</a:t>
            </a:r>
          </a:p>
          <a:p>
            <a:pPr marL="0" marR="0" lvl="0" indent="0" algn="l" hangingPunct="0">
              <a:buNone/>
              <a:tabLst/>
            </a:pPr>
            <a:endParaRPr lang="en-GB" sz="2200" b="1" i="0" u="sng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s-form and q-form transformation matrices</a:t>
            </a:r>
          </a:p>
          <a:p>
            <a:pPr marL="0" marR="0" lvl="1" indent="0" algn="l" hangingPunct="0">
              <a:buNone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Nifti image headers have 2 transformation matrices. It is possible to independently report or modify the qform or sform fields.</a:t>
            </a:r>
          </a:p>
          <a:p>
            <a:pPr marL="0" marR="0" lvl="1" indent="0" algn="l" hangingPunct="0">
              <a:buNone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qform and sform stored in a nifti file are intended to fulfil the following functions: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specify the handedness of the coordinate system (important for getting left and right correct)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specify the original scanner coordinates (qform only)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specify standard space coordinates (sform only)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specify a relationship with another image's coordinates (sform only)</a:t>
            </a:r>
          </a:p>
          <a:p>
            <a:pPr marL="0" marR="0" lvl="0" indent="0" algn="l" hangingPunct="0">
              <a:buNone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From: 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  <a:hlinkClick r:id="rId3"/>
              </a:rPr>
              <a:t>https://nifti.nimh.nih.gov/nifti-1/documentation/nifti1fields/nifti1fields_pages/qsform_brief_usage/document_view</a:t>
            </a:r>
          </a:p>
          <a:p>
            <a:pPr marL="0" marR="0" lvl="0" indent="0" algn="l" hangingPunct="0">
              <a:buNone/>
              <a:tabLst/>
            </a:pPr>
            <a:b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</a:b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MIPAV works on the qform and SPM on the sform. So you might run into problems because of that.</a:t>
            </a:r>
          </a:p>
          <a:p>
            <a:pPr marL="0" marR="0" lvl="1" indent="0" algn="l" hangingPunct="0">
              <a:buNone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1" indent="0" algn="l" hangingPunct="0">
              <a:buNone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More info here: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  <a:hlinkClick r:id="rId4"/>
              </a:rPr>
              <a:t>http://gru.stanford.edu/doku.php/mrTools/coordinateTransforms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  <a:hlinkClick r:id="rId5"/>
              </a:rPr>
              <a:t>https://fsl.fmrib.ox.ac.uk/fsl/fslwiki/Orientation%20Explained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15F5-2863-4EB9-B646-8E092302E2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VTK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1A1E2-2700-4B4D-AA73-BA1B9A9929C6}"/>
              </a:ext>
            </a:extLst>
          </p:cNvPr>
          <p:cNvSpPr txBox="1"/>
          <p:nvPr/>
        </p:nvSpPr>
        <p:spPr>
          <a:xfrm>
            <a:off x="474120" y="1940760"/>
            <a:ext cx="9071640" cy="4687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None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vtk surfaces from the CBS tools have 4 parts:</a:t>
            </a:r>
          </a:p>
          <a:p>
            <a:pPr marL="0" marR="0" lvl="3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Header</a:t>
            </a:r>
          </a:p>
          <a:p>
            <a:pPr marL="0" marR="0" lvl="3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Vertices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: that parts stays the same between inflated and non inflafed surfaces)</a:t>
            </a:r>
          </a:p>
          <a:p>
            <a:pPr marL="0" marR="0" lvl="3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Faces</a:t>
            </a:r>
          </a:p>
          <a:p>
            <a:pPr marL="0" marR="0" lvl="3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Mapping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: X values (one column / layer) for each vertex (each row is a vertex).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1" i="0" u="sng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Extracting data from surfaces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*.vtk files are text files that can be easily read in simple text editor. I have created a set of matlab function to read, extract data, threshold and write back the data from those surfaces.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gifti function from SPM should do the trick.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Otherwise I also wrote write_vtk.m and read_vtk.m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140C79-AD5A-4158-AFBA-638400CD2FD6}"/>
              </a:ext>
            </a:extLst>
          </p:cNvPr>
          <p:cNvSpPr txBox="1"/>
          <p:nvPr/>
        </p:nvSpPr>
        <p:spPr>
          <a:xfrm>
            <a:off x="474120" y="2118600"/>
            <a:ext cx="9071640" cy="4331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None/>
              <a:tabLst/>
            </a:pPr>
            <a:endParaRPr lang="en-GB" sz="2200" b="1" i="0" u="sng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uFillTx/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Vizualizing surfaces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Use Paraview: 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  <a:hlinkClick r:id="rId3"/>
              </a:rPr>
              <a:t>http://www.paraview.org/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Drawing ROI on surfaces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1" i="1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Use the modified version of Cosmetic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092494-62BB-4B7E-8721-CDF776579C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359" y="301320"/>
            <a:ext cx="9071640" cy="1262160"/>
          </a:xfrm>
        </p:spPr>
        <p:txBody>
          <a:bodyPr/>
          <a:lstStyle/>
          <a:p>
            <a:pPr lvl="0"/>
            <a:r>
              <a:rPr lang="en-GB"/>
              <a:t>VTK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66B5-4751-4918-9D50-91B3A58D3C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D60C7-596F-46B0-929E-5ABB2AF3253E}"/>
              </a:ext>
            </a:extLst>
          </p:cNvPr>
          <p:cNvSpPr txBox="1"/>
          <p:nvPr/>
        </p:nvSpPr>
        <p:spPr>
          <a:xfrm>
            <a:off x="504359" y="1188719"/>
            <a:ext cx="9071640" cy="1458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Open one of the segmentation layout from: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MipavRootFolder/plugins/layouts-r3.0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For example: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brain-segmentation-MP2RAGE-7T-MNI-space.LayoutXML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1EB96EF2-10B2-488F-B3DE-9E0E2AC0A84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06839" y="2707200"/>
            <a:ext cx="8266679" cy="46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AC27-A808-4A0D-A34B-71DDE849F3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7EA0D59D-8EFA-4627-907C-F193BF6A4AB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1159" y="1931759"/>
            <a:ext cx="8266679" cy="46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72D769-A11F-4055-B68B-E437D7D95F45}"/>
              </a:ext>
            </a:extLst>
          </p:cNvPr>
          <p:cNvSpPr txBox="1"/>
          <p:nvPr/>
        </p:nvSpPr>
        <p:spPr>
          <a:xfrm>
            <a:off x="956880" y="2212920"/>
            <a:ext cx="2997720" cy="1554119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Available processing 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146BE-5FF1-4776-B46E-8D0B8A1B435B}"/>
              </a:ext>
            </a:extLst>
          </p:cNvPr>
          <p:cNvSpPr txBox="1"/>
          <p:nvPr/>
        </p:nvSpPr>
        <p:spPr>
          <a:xfrm>
            <a:off x="956880" y="3898080"/>
            <a:ext cx="2997720" cy="265644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Parameters and description of the active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9C4DD-FCD7-4532-95FB-1923F5D5F068}"/>
              </a:ext>
            </a:extLst>
          </p:cNvPr>
          <p:cNvSpPr txBox="1"/>
          <p:nvPr/>
        </p:nvSpPr>
        <p:spPr>
          <a:xfrm>
            <a:off x="4095000" y="1315440"/>
            <a:ext cx="5073480" cy="523908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t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Processing pipelines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D20F5-B5B3-42FE-8966-8C615740D3DA}"/>
              </a:ext>
            </a:extLst>
          </p:cNvPr>
          <p:cNvSpPr txBox="1"/>
          <p:nvPr/>
        </p:nvSpPr>
        <p:spPr>
          <a:xfrm>
            <a:off x="1565999" y="6710760"/>
            <a:ext cx="7018199" cy="724319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The details about a module usually link to the published article where the algorithm was described.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8983560-4D96-461D-9D83-688D207839C4}"/>
              </a:ext>
            </a:extLst>
          </p:cNvPr>
          <p:cNvSpPr/>
          <p:nvPr/>
        </p:nvSpPr>
        <p:spPr>
          <a:xfrm flipH="1" flipV="1">
            <a:off x="3521520" y="4017600"/>
            <a:ext cx="1512360" cy="270180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B596-4A6D-42D9-ACDE-2E19F8D9D0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72D31460-A56E-4878-83E2-24341005B0A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1159" y="2255760"/>
            <a:ext cx="8266679" cy="46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26216B-0C50-42C6-8B07-0C0092C60EDA}"/>
              </a:ext>
            </a:extLst>
          </p:cNvPr>
          <p:cNvSpPr txBox="1"/>
          <p:nvPr/>
        </p:nvSpPr>
        <p:spPr>
          <a:xfrm>
            <a:off x="5825519" y="1514160"/>
            <a:ext cx="2005200" cy="48132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Inputs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866155F-EAE2-4B86-9B4C-94E1B3130CBA}"/>
              </a:ext>
            </a:extLst>
          </p:cNvPr>
          <p:cNvSpPr/>
          <p:nvPr/>
        </p:nvSpPr>
        <p:spPr>
          <a:xfrm flipH="1">
            <a:off x="4612320" y="1955160"/>
            <a:ext cx="2205720" cy="97271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A3C1A62-2EA4-4286-BC4C-B0EA5A86913A}"/>
              </a:ext>
            </a:extLst>
          </p:cNvPr>
          <p:cNvSpPr/>
          <p:nvPr/>
        </p:nvSpPr>
        <p:spPr>
          <a:xfrm flipH="1">
            <a:off x="5524560" y="1955520"/>
            <a:ext cx="1293839" cy="101231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B2C6B5F-CA3A-42D0-A054-5F352C9FF65C}"/>
              </a:ext>
            </a:extLst>
          </p:cNvPr>
          <p:cNvSpPr/>
          <p:nvPr/>
        </p:nvSpPr>
        <p:spPr>
          <a:xfrm flipH="1">
            <a:off x="6446879" y="1955520"/>
            <a:ext cx="371520" cy="99252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438B0BB-4E12-4BA9-BBCF-C1B1C0D29C35}"/>
              </a:ext>
            </a:extLst>
          </p:cNvPr>
          <p:cNvSpPr/>
          <p:nvPr/>
        </p:nvSpPr>
        <p:spPr>
          <a:xfrm>
            <a:off x="6818399" y="1955520"/>
            <a:ext cx="531001" cy="120276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0CAB286-3F89-4CB9-9C87-42558229C0AA}"/>
              </a:ext>
            </a:extLst>
          </p:cNvPr>
          <p:cNvSpPr/>
          <p:nvPr/>
        </p:nvSpPr>
        <p:spPr>
          <a:xfrm>
            <a:off x="6818399" y="1955520"/>
            <a:ext cx="1323001" cy="181440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0DE8-E6AD-4BCA-BF80-F86203647D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BC584A69-ECCC-496E-B1A1-8CB3EDF98FE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55.205%"/>
          <a:stretch>
            <a:fillRect/>
          </a:stretch>
        </p:blipFill>
        <p:spPr>
          <a:xfrm>
            <a:off x="911159" y="2255760"/>
            <a:ext cx="8266679" cy="20854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EEA8E5-4619-4F57-BD11-75E660A77EAB}"/>
              </a:ext>
            </a:extLst>
          </p:cNvPr>
          <p:cNvSpPr txBox="1"/>
          <p:nvPr/>
        </p:nvSpPr>
        <p:spPr>
          <a:xfrm>
            <a:off x="5825519" y="1514160"/>
            <a:ext cx="2005200" cy="48132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Inputs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88FE5-7E4B-4024-ABBB-C24BB08A7EB5}"/>
              </a:ext>
            </a:extLst>
          </p:cNvPr>
          <p:cNvSpPr txBox="1"/>
          <p:nvPr/>
        </p:nvSpPr>
        <p:spPr>
          <a:xfrm>
            <a:off x="434519" y="4397760"/>
            <a:ext cx="9071640" cy="3162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Several subjects can be processed in parallel pipelines, but the data must entered in the same order in each input module.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If there is only one file in a given module then this file will be used for all subject (e.g. atlas, template…) in parallel pipelines.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FC20554-0161-4D37-BC89-F2B516018CAB}"/>
              </a:ext>
            </a:extLst>
          </p:cNvPr>
          <p:cNvSpPr/>
          <p:nvPr/>
        </p:nvSpPr>
        <p:spPr>
          <a:xfrm flipH="1">
            <a:off x="4612680" y="1955520"/>
            <a:ext cx="2205719" cy="97271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2B239A7-0CAA-4DC8-8F1E-C42B72549FDC}"/>
              </a:ext>
            </a:extLst>
          </p:cNvPr>
          <p:cNvSpPr/>
          <p:nvPr/>
        </p:nvSpPr>
        <p:spPr>
          <a:xfrm flipH="1">
            <a:off x="5524920" y="1955880"/>
            <a:ext cx="1293840" cy="101231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B2941A6-36F3-443D-ADE8-C02CCC311834}"/>
              </a:ext>
            </a:extLst>
          </p:cNvPr>
          <p:cNvSpPr/>
          <p:nvPr/>
        </p:nvSpPr>
        <p:spPr>
          <a:xfrm flipH="1">
            <a:off x="6447240" y="1955880"/>
            <a:ext cx="371520" cy="99252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0836DE2-5B95-43E4-B272-687E5F977D5E}"/>
              </a:ext>
            </a:extLst>
          </p:cNvPr>
          <p:cNvSpPr/>
          <p:nvPr/>
        </p:nvSpPr>
        <p:spPr>
          <a:xfrm>
            <a:off x="6818760" y="1955880"/>
            <a:ext cx="531000" cy="120275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A310CB5-FD09-4EF8-BA0C-DBB026A6450F}"/>
              </a:ext>
            </a:extLst>
          </p:cNvPr>
          <p:cNvSpPr/>
          <p:nvPr/>
        </p:nvSpPr>
        <p:spPr>
          <a:xfrm>
            <a:off x="6818760" y="1955880"/>
            <a:ext cx="1323000" cy="181440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A2EB-173F-41DC-ACD6-AA6D6BA4DB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2D4DB924-E12D-4A57-B4BD-BE14DDDAEAF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55.205%"/>
          <a:stretch>
            <a:fillRect/>
          </a:stretch>
        </p:blipFill>
        <p:spPr>
          <a:xfrm>
            <a:off x="911159" y="2255760"/>
            <a:ext cx="8266679" cy="20854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95A228-A4D8-40A1-A748-B2CD6EBFC744}"/>
              </a:ext>
            </a:extLst>
          </p:cNvPr>
          <p:cNvSpPr txBox="1"/>
          <p:nvPr/>
        </p:nvSpPr>
        <p:spPr>
          <a:xfrm>
            <a:off x="5825519" y="1514160"/>
            <a:ext cx="2005200" cy="48132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Inputs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10131-B86C-4AAC-9379-AE449DAA773D}"/>
              </a:ext>
            </a:extLst>
          </p:cNvPr>
          <p:cNvSpPr txBox="1"/>
          <p:nvPr/>
        </p:nvSpPr>
        <p:spPr>
          <a:xfrm>
            <a:off x="150480" y="4632480"/>
            <a:ext cx="9765720" cy="2596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Several subjects can be processed, but the data must entered in the same order in each input module.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If there is only one file in a given module then this file will be used for all subject (e.g. atlas, template…)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mipav/plugins/atlases/MNI-template/MNI152_T1_04mm_brain.nii.gz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mipav/plugins/atlases/brain-segmentation-prior3.0/brain-atlas-3.0.txt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B8BB59F-54F7-48CF-AA2D-EB0124F352EC}"/>
              </a:ext>
            </a:extLst>
          </p:cNvPr>
          <p:cNvSpPr/>
          <p:nvPr/>
        </p:nvSpPr>
        <p:spPr>
          <a:xfrm flipH="1">
            <a:off x="4612680" y="1955520"/>
            <a:ext cx="2205719" cy="97271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AE715B7-2F3B-422F-A916-992236FD8794}"/>
              </a:ext>
            </a:extLst>
          </p:cNvPr>
          <p:cNvSpPr/>
          <p:nvPr/>
        </p:nvSpPr>
        <p:spPr>
          <a:xfrm flipH="1">
            <a:off x="5524920" y="1955880"/>
            <a:ext cx="1293840" cy="101231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FE9A090-0ADC-474A-97C7-4405682FD653}"/>
              </a:ext>
            </a:extLst>
          </p:cNvPr>
          <p:cNvSpPr/>
          <p:nvPr/>
        </p:nvSpPr>
        <p:spPr>
          <a:xfrm flipH="1">
            <a:off x="6447240" y="1955880"/>
            <a:ext cx="371520" cy="99252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F625DB5-B528-4F91-BC71-4692E6BFDA47}"/>
              </a:ext>
            </a:extLst>
          </p:cNvPr>
          <p:cNvSpPr/>
          <p:nvPr/>
        </p:nvSpPr>
        <p:spPr>
          <a:xfrm>
            <a:off x="6818760" y="1955880"/>
            <a:ext cx="531000" cy="1202759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7DB0FE0-3D8D-4A52-B1CE-1C9B558FFAE3}"/>
              </a:ext>
            </a:extLst>
          </p:cNvPr>
          <p:cNvSpPr/>
          <p:nvPr/>
        </p:nvSpPr>
        <p:spPr>
          <a:xfrm>
            <a:off x="6818760" y="1955880"/>
            <a:ext cx="1323000" cy="181440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25DF7-6B25-4653-84A0-B4302B21ED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C8195871-0982-4431-8F9C-1C694FAC37C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98680" y="3348000"/>
            <a:ext cx="5067000" cy="30286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C3F147-8028-4FC3-B772-8208C3ACA91C}"/>
              </a:ext>
            </a:extLst>
          </p:cNvPr>
          <p:cNvSpPr txBox="1"/>
          <p:nvPr/>
        </p:nvSpPr>
        <p:spPr>
          <a:xfrm>
            <a:off x="226800" y="1455480"/>
            <a:ext cx="9605160" cy="850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Set a few things in the template preference: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Project → Layout Preferences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FB56D-EAAC-411E-9EF2-F0A702E7BC66}"/>
              </a:ext>
            </a:extLst>
          </p:cNvPr>
          <p:cNvSpPr txBox="1"/>
          <p:nvPr/>
        </p:nvSpPr>
        <p:spPr>
          <a:xfrm>
            <a:off x="391320" y="2508480"/>
            <a:ext cx="2486520" cy="63828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The directory where the data will be saved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2B5E2-E261-48DE-B8AF-7C6693E6F8B4}"/>
              </a:ext>
            </a:extLst>
          </p:cNvPr>
          <p:cNvSpPr txBox="1"/>
          <p:nvPr/>
        </p:nvSpPr>
        <p:spPr>
          <a:xfrm>
            <a:off x="7299720" y="1952280"/>
            <a:ext cx="2486520" cy="115020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The maximum amount of RAM that can be allocated to that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782B2-5409-4287-B60D-D565B52CC814}"/>
              </a:ext>
            </a:extLst>
          </p:cNvPr>
          <p:cNvSpPr txBox="1"/>
          <p:nvPr/>
        </p:nvSpPr>
        <p:spPr>
          <a:xfrm>
            <a:off x="1531080" y="6537240"/>
            <a:ext cx="7018199" cy="96516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The maximum number of processes that can run at the same time:</a:t>
            </a:r>
          </a:p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Mostly a computing time vs. RAM trade off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8FF1E83-37F4-4EE4-8562-AD912A484E72}"/>
              </a:ext>
            </a:extLst>
          </p:cNvPr>
          <p:cNvSpPr/>
          <p:nvPr/>
        </p:nvSpPr>
        <p:spPr>
          <a:xfrm>
            <a:off x="2877840" y="3146759"/>
            <a:ext cx="1313280" cy="68328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48D3E29-6F78-445D-9039-4E44145FAE84}"/>
              </a:ext>
            </a:extLst>
          </p:cNvPr>
          <p:cNvSpPr/>
          <p:nvPr/>
        </p:nvSpPr>
        <p:spPr>
          <a:xfrm flipH="1">
            <a:off x="6818040" y="3102479"/>
            <a:ext cx="481680" cy="978481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5EC9F8C-3B51-4F2A-B67E-5182DE6F568C}"/>
              </a:ext>
            </a:extLst>
          </p:cNvPr>
          <p:cNvSpPr/>
          <p:nvPr/>
        </p:nvSpPr>
        <p:spPr>
          <a:xfrm>
            <a:off x="7269480" y="4516200"/>
            <a:ext cx="531000" cy="206136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purl.oclc.org/ooxml/drawingml/main" xmlns:r="http://purl.oclc.org/ooxml/officeDocument/relationships" xmlns:p="http://purl.oclc.org/ooxml/presentationml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FAE22-7C1B-46DA-86C3-54C71567B4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26FE667E-21B4-42F1-B39D-DF9A0519BEE4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</a:blip>
          <a:srcRect/>
          <a:stretch>
            <a:fillRect/>
          </a:stretch>
        </p:blipFill>
        <p:spPr>
          <a:xfrm>
            <a:off x="911159" y="2255760"/>
            <a:ext cx="8266679" cy="46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224C8D-EB7F-400B-ADF8-1EC0AE2A04E4}"/>
              </a:ext>
            </a:extLst>
          </p:cNvPr>
          <p:cNvSpPr txBox="1"/>
          <p:nvPr/>
        </p:nvSpPr>
        <p:spPr>
          <a:xfrm>
            <a:off x="5256360" y="1327680"/>
            <a:ext cx="3107879" cy="63828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Processing modules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8B29ADB-CFF7-4F38-8675-813C6394F9FB}"/>
              </a:ext>
            </a:extLst>
          </p:cNvPr>
          <p:cNvSpPr/>
          <p:nvPr/>
        </p:nvSpPr>
        <p:spPr>
          <a:xfrm flipH="1">
            <a:off x="4712400" y="1955160"/>
            <a:ext cx="2105640" cy="193536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D28F4F6-1B1B-4C1D-A435-1E3C0925CB7F}"/>
              </a:ext>
            </a:extLst>
          </p:cNvPr>
          <p:cNvSpPr/>
          <p:nvPr/>
        </p:nvSpPr>
        <p:spPr>
          <a:xfrm flipH="1">
            <a:off x="5614920" y="1955520"/>
            <a:ext cx="1203479" cy="156384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7353420-F200-4697-A47E-B260184103D0}"/>
              </a:ext>
            </a:extLst>
          </p:cNvPr>
          <p:cNvSpPr/>
          <p:nvPr/>
        </p:nvSpPr>
        <p:spPr>
          <a:xfrm flipH="1">
            <a:off x="5534640" y="1955520"/>
            <a:ext cx="1283759" cy="240624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3BCCCF1-C939-4F60-9169-4622CDD15939}"/>
              </a:ext>
            </a:extLst>
          </p:cNvPr>
          <p:cNvSpPr/>
          <p:nvPr/>
        </p:nvSpPr>
        <p:spPr>
          <a:xfrm flipH="1">
            <a:off x="5675040" y="1955520"/>
            <a:ext cx="1143359" cy="284724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0EC60A3-17BC-4E33-8E75-988046A5D4AB}"/>
              </a:ext>
            </a:extLst>
          </p:cNvPr>
          <p:cNvSpPr/>
          <p:nvPr/>
        </p:nvSpPr>
        <p:spPr>
          <a:xfrm flipH="1">
            <a:off x="6296760" y="1955520"/>
            <a:ext cx="521639" cy="326844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purl.oclc.org/ooxml/drawingml/main" xmlns:r="http://purl.oclc.org/ooxml/officeDocument/relationships" xmlns:p="http://purl.oclc.org/ooxml/presentationml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EAF3-ECBA-4BF1-A1D5-FFD727BBF66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6FF7A63F-E859-423D-A026-EB26072705A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t="53.812%"/>
          <a:stretch>
            <a:fillRect/>
          </a:stretch>
        </p:blipFill>
        <p:spPr>
          <a:xfrm>
            <a:off x="3452040" y="1265040"/>
            <a:ext cx="3227040" cy="15116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FFAB35-3818-4BD4-9D80-A9AC71B2E506}"/>
              </a:ext>
            </a:extLst>
          </p:cNvPr>
          <p:cNvSpPr txBox="1"/>
          <p:nvPr/>
        </p:nvSpPr>
        <p:spPr>
          <a:xfrm>
            <a:off x="505079" y="3009960"/>
            <a:ext cx="9071640" cy="406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Modules have a number of obligatory inputs: top white pins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top grey pins are either: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for optional inputs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or parameters that can be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read from a file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or passed on from another module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or set manually in the parameter window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bottom pins are for the output management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Modules can easily be linked to one another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Modules can also also renamed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purl.oclc.org/ooxml/drawingml/main" xmlns:r="http://purl.oclc.org/ooxml/officeDocument/relationships" xmlns:p="http://purl.oclc.org/ooxml/presentationml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8558-CCD1-4376-922A-F439692E95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418152-41AF-4699-88BC-752F2BF3AE15}"/>
              </a:ext>
            </a:extLst>
          </p:cNvPr>
          <p:cNvSpPr txBox="1"/>
          <p:nvPr/>
        </p:nvSpPr>
        <p:spPr>
          <a:xfrm>
            <a:off x="434880" y="1420200"/>
            <a:ext cx="9071640" cy="1327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Save the layout and start the process manager: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Project → P</a:t>
            </a: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rocess manager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84E561EA-BD31-4D1B-B8CC-6353638A26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83039" y="2499840"/>
            <a:ext cx="5713920" cy="49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purl.oclc.org/ooxml/drawingml/main" xmlns:r="http://purl.oclc.org/ooxml/officeDocument/relationships" xmlns:p="http://purl.oclc.org/ooxml/presentationml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CA69-6048-4B3B-B525-9A55E92F92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68553444-2F8E-45DD-A500-382B4E439D0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83039" y="1527480"/>
            <a:ext cx="5713920" cy="49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E41100-9906-439D-824A-FD36000070FE}"/>
              </a:ext>
            </a:extLst>
          </p:cNvPr>
          <p:cNvSpPr txBox="1"/>
          <p:nvPr/>
        </p:nvSpPr>
        <p:spPr>
          <a:xfrm>
            <a:off x="2206440" y="4193279"/>
            <a:ext cx="2776680" cy="206316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Parent (i.e input) modules of the selected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06645-D6A1-4358-86F3-40B4A8DE16B8}"/>
              </a:ext>
            </a:extLst>
          </p:cNvPr>
          <p:cNvSpPr txBox="1"/>
          <p:nvPr/>
        </p:nvSpPr>
        <p:spPr>
          <a:xfrm>
            <a:off x="5104440" y="4193639"/>
            <a:ext cx="2776680" cy="206316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Children (i.e output) modules of the selected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27433-87A2-4E87-8427-C9F98421C64A}"/>
              </a:ext>
            </a:extLst>
          </p:cNvPr>
          <p:cNvSpPr txBox="1"/>
          <p:nvPr/>
        </p:nvSpPr>
        <p:spPr>
          <a:xfrm>
            <a:off x="2186640" y="1977840"/>
            <a:ext cx="5664239" cy="206316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Process list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purl.oclc.org/ooxml/drawingml/main" xmlns:r="http://purl.oclc.org/ooxml/officeDocument/relationships" xmlns:p="http://purl.oclc.org/ooxml/presentationml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ADC5-FB45-417F-9069-AEDB8CA4E5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16CBA93C-6E6B-404C-9482-AB658A73C78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69.213%"/>
          <a:stretch>
            <a:fillRect/>
          </a:stretch>
        </p:blipFill>
        <p:spPr>
          <a:xfrm>
            <a:off x="182520" y="3177000"/>
            <a:ext cx="9715320" cy="2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E709C7-A821-423A-8267-85447E6E82AD}"/>
              </a:ext>
            </a:extLst>
          </p:cNvPr>
          <p:cNvSpPr txBox="1"/>
          <p:nvPr/>
        </p:nvSpPr>
        <p:spPr>
          <a:xfrm>
            <a:off x="504719" y="1323000"/>
            <a:ext cx="9071640" cy="16250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whole pipeline can be run at once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Scheduler-&gt; Start Scheduler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Each process with a “ready” status, can be started individually (“run” button or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Right click → run</a:t>
            </a:r>
            <a:r>
              <a:rPr lang="en-GB" sz="2200" b="0" i="1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)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priority of each process can be modified (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Right click → Promote/Demote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purl.oclc.org/ooxml/drawingml/main" xmlns:r="http://purl.oclc.org/ooxml/officeDocument/relationships" xmlns:p="http://purl.oclc.org/ooxml/presentationml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3D7C-2A30-4668-B7B1-BF4AA425BA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2297EFB8-F3DA-47FC-B92E-28E33E2531D4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</a:blip>
          <a:srcRect b="604.233%"/>
          <a:stretch>
            <a:fillRect/>
          </a:stretch>
        </p:blipFill>
        <p:spPr>
          <a:xfrm>
            <a:off x="182520" y="1377000"/>
            <a:ext cx="9715320" cy="2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356314-3534-4414-868E-18B0168BDDAD}"/>
              </a:ext>
            </a:extLst>
          </p:cNvPr>
          <p:cNvSpPr txBox="1"/>
          <p:nvPr/>
        </p:nvSpPr>
        <p:spPr>
          <a:xfrm>
            <a:off x="474120" y="4647240"/>
            <a:ext cx="9071640" cy="280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Each parallel pipeline (e.g. subject) gets a different number (0000, 0001, 0002, …)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letters are related to the parent process of the selected process.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data of every step will be saved in the output directory specified in the layout preference and organized as follow: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OutputDir/PipelineNumber/Process-ID/ModuleName/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12BAD-AED7-4B5D-BBB1-0B2C026F47DB}"/>
              </a:ext>
            </a:extLst>
          </p:cNvPr>
          <p:cNvSpPr txBox="1"/>
          <p:nvPr/>
        </p:nvSpPr>
        <p:spPr>
          <a:xfrm>
            <a:off x="682560" y="4075560"/>
            <a:ext cx="1803960" cy="41112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Process ID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E44519D-7B37-423F-9A84-A4A5E9103203}"/>
              </a:ext>
            </a:extLst>
          </p:cNvPr>
          <p:cNvSpPr/>
          <p:nvPr/>
        </p:nvSpPr>
        <p:spPr>
          <a:xfrm>
            <a:off x="471600" y="3247200"/>
            <a:ext cx="210960" cy="82836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purl.oclc.org/ooxml/drawingml/main" xmlns:r="http://purl.oclc.org/ooxml/officeDocument/relationships" xmlns:p="http://purl.oclc.org/ooxml/presentationml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10AA-A27F-481F-9404-2D687C6D03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2DAF2-63A1-4763-8E8E-695ACB51B2E5}"/>
              </a:ext>
            </a:extLst>
          </p:cNvPr>
          <p:cNvSpPr txBox="1"/>
          <p:nvPr/>
        </p:nvSpPr>
        <p:spPr>
          <a:xfrm>
            <a:off x="495720" y="1440720"/>
            <a:ext cx="9071640" cy="280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data of every step will be saved in the output directory specified in the layout preference and organized as follow: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OutputDir/PipelineNumber/Process-ID/ModuleName/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31C403D1-47AA-4E09-9A09-08545FB6F91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42.76%"/>
          <a:stretch>
            <a:fillRect/>
          </a:stretch>
        </p:blipFill>
        <p:spPr>
          <a:xfrm>
            <a:off x="883080" y="4029839"/>
            <a:ext cx="8313840" cy="28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50185DBB-F57A-4D71-A0E4-DC0AFE6A137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42.76%"/>
          <a:stretch>
            <a:fillRect/>
          </a:stretch>
        </p:blipFill>
        <p:spPr>
          <a:xfrm>
            <a:off x="328680" y="3645000"/>
            <a:ext cx="9422640" cy="327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purl.oclc.org/ooxml/drawingml/main" xmlns:r="http://purl.oclc.org/ooxml/officeDocument/relationships" xmlns:p="http://purl.oclc.org/ooxml/presentationml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4178-9F52-47EA-A25F-C3C8037EB9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2AD63-7CB3-4ACA-B025-C634B5564062}"/>
              </a:ext>
            </a:extLst>
          </p:cNvPr>
          <p:cNvSpPr txBox="1"/>
          <p:nvPr/>
        </p:nvSpPr>
        <p:spPr>
          <a:xfrm>
            <a:off x="474120" y="3118320"/>
            <a:ext cx="9071640" cy="4331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If a layout has been modified (change of parameters, new step added, some output files have been moved) some process (and sometimes all of its children processes) might have an “</a:t>
            </a: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out of sync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” status.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This can be fixed process by process (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Right click → Clean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) or for all the incriminated processes (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Scheduler → Clean Out of Synch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).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96117434-5955-4143-A93D-6E4F981BACB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73.95%"/>
          <a:stretch>
            <a:fillRect/>
          </a:stretch>
        </p:blipFill>
        <p:spPr>
          <a:xfrm>
            <a:off x="440999" y="1491480"/>
            <a:ext cx="9170640" cy="155447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3368B00-CB30-4737-9466-7FD252E3E2C6}"/>
              </a:ext>
            </a:extLst>
          </p:cNvPr>
          <p:cNvSpPr/>
          <p:nvPr/>
        </p:nvSpPr>
        <p:spPr>
          <a:xfrm>
            <a:off x="7670160" y="2045519"/>
            <a:ext cx="1223280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600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purl.oclc.org/ooxml/drawingml/main" xmlns:r="http://purl.oclc.org/ooxml/officeDocument/relationships" xmlns:p="http://purl.oclc.org/ooxml/presentationml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BF79-845D-4B4D-B310-42CDDBD4AC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F32B4-DBC6-4421-B1B4-FDB18E30E093}"/>
              </a:ext>
            </a:extLst>
          </p:cNvPr>
          <p:cNvSpPr txBox="1"/>
          <p:nvPr/>
        </p:nvSpPr>
        <p:spPr>
          <a:xfrm>
            <a:off x="474120" y="2096639"/>
            <a:ext cx="9071640" cy="4375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Sometimes a process might </a:t>
            </a:r>
            <a:r>
              <a:rPr lang="en-GB" sz="2200" b="1" i="0" u="none" strike="noStrike" kern="1200" cap="none">
                <a:ln>
                  <a:noFill/>
                </a:ln>
                <a:solidFill>
                  <a:srgbClr val="FF3333"/>
                </a:solidFill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fail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to complete… How surprising!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To help you debug what could have gone wrong , check the debug.err and debug.out files in folder of that process</a:t>
            </a:r>
          </a:p>
          <a:p>
            <a:pPr marL="0" marR="0" lvl="1" indent="0" algn="l" hangingPunct="0">
              <a:buNone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One of the usual suspect is “Not enough memory”, so either allocate more RAM or run fewer processes at once.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Other classical issues: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input file has been moved,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you don’t have write access to the output folder,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Your hard drive is full!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Once you have fixed the issue you can clean and re-run the process.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purl.oclc.org/ooxml/drawingml/main" xmlns:r="http://purl.oclc.org/ooxml/officeDocument/relationships" xmlns:p="http://purl.oclc.org/ooxml/presentationml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761A3-831D-41F5-B241-CB68150249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7B297-991E-4369-BE18-ADEF595545F9}"/>
              </a:ext>
            </a:extLst>
          </p:cNvPr>
          <p:cNvSpPr txBox="1"/>
          <p:nvPr/>
        </p:nvSpPr>
        <p:spPr>
          <a:xfrm>
            <a:off x="474120" y="1549439"/>
            <a:ext cx="9071640" cy="585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brain-segmentation-*.LayoutXML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There is one pipeline optimised for the MP2RAGE of the 7T at the MPI CBS.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Will do the high-res segmentation.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final resolution of the end product will be determined by the resolution of the MNI template.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purl.oclc.org/ooxml/drawingml/main" xmlns:r="http://purl.oclc.org/ooxml/officeDocument/relationships" xmlns:p="http://purl.oclc.org/ooxml/presentationml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C4DE-A0FB-46C7-A70F-92B57A01D7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5BA2A-EA54-46C4-9775-1DC4F782B4E5}"/>
              </a:ext>
            </a:extLst>
          </p:cNvPr>
          <p:cNvSpPr txBox="1"/>
          <p:nvPr/>
        </p:nvSpPr>
        <p:spPr>
          <a:xfrm>
            <a:off x="474120" y="1627919"/>
            <a:ext cx="9071640" cy="531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brain-segmentation-*.LayoutXML</a:t>
            </a:r>
          </a:p>
          <a:p>
            <a:pPr marL="0" marR="0" lvl="1" indent="0" algn="l" hangingPunct="0">
              <a:buNone/>
              <a:tabLst/>
            </a:pPr>
            <a:endParaRPr lang="en-GB" sz="2200" b="1" i="1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In this pipeline the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Full CRUISE cortex extraction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module will also create 3D volume level sets necessary for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surface inflation and mapping (central level set)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and for layering (white matter-grey matter level set and grey matter-CSF level set).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Surface mesh inflation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will create the surface (.vtk) files (normal and inflated): they are based on the surface that goes across the middle of the cortical ribbon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Surface mesh mapping</a:t>
            </a: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maps the data from the T1 map volume to the central surface. It can also be used to map a ROI defining volume onto a surface in case we want to only extract certain vertices from that surface.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purl.oclc.org/ooxml/drawingml/main" xmlns:r="http://purl.oclc.org/ooxml/officeDocument/relationships" xmlns:p="http://purl.oclc.org/ooxml/presentationml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2F9D-53CB-4656-AC36-7AC458DE03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891B6-411D-4CB9-8A7B-A971C1D7A9FC}"/>
              </a:ext>
            </a:extLst>
          </p:cNvPr>
          <p:cNvSpPr txBox="1"/>
          <p:nvPr/>
        </p:nvSpPr>
        <p:spPr>
          <a:xfrm>
            <a:off x="474120" y="1366920"/>
            <a:ext cx="9101519" cy="375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brain-segmentation-*.LayoutXML</a:t>
            </a:r>
          </a:p>
          <a:p>
            <a:pPr marL="0" marR="0" lvl="1" indent="0" algn="l" hangingPunct="0">
              <a:buNone/>
              <a:tabLst/>
            </a:pPr>
            <a:endParaRPr lang="en-GB" sz="2200" b="1" i="1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Manual sanity checks and inspection after: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Skull stripping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T1 map before (T1_map*_transform.nii) vs. T1 map after (T1_map*_strip.nii) skull stripping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Segmentation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T1 map before (T1_map*_bound.nii) vs. T1 map after (T1_map*_seg.nii) segmentation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purl.oclc.org/ooxml/drawingml/main" xmlns:r="http://purl.oclc.org/ooxml/officeDocument/relationships" xmlns:p="http://purl.oclc.org/ooxml/presentationml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8F91-7957-4CA7-B56C-1A04C13AB0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8A368-98E0-4A77-AB80-20D5677C73E8}"/>
              </a:ext>
            </a:extLst>
          </p:cNvPr>
          <p:cNvSpPr txBox="1"/>
          <p:nvPr/>
        </p:nvSpPr>
        <p:spPr>
          <a:xfrm>
            <a:off x="474120" y="947880"/>
            <a:ext cx="9101519" cy="250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brain-segmentation-*.LayoutXML</a:t>
            </a:r>
          </a:p>
          <a:p>
            <a:pPr marL="0" marR="0" lvl="1" indent="0" algn="l" hangingPunct="0">
              <a:buNone/>
              <a:tabLst/>
            </a:pPr>
            <a:endParaRPr lang="en-GB" sz="2200" b="1" i="1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Manual sanity checks and inspection after: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23A0E516-4DC6-473D-98F0-5C6DAE1E243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720" y="4335120"/>
            <a:ext cx="8837280" cy="1970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A60A12-34E5-4180-84FC-7E2D0FD53D47}"/>
              </a:ext>
            </a:extLst>
          </p:cNvPr>
          <p:cNvSpPr/>
          <p:nvPr/>
        </p:nvSpPr>
        <p:spPr>
          <a:xfrm>
            <a:off x="5092200" y="5016600"/>
            <a:ext cx="685799" cy="419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C4E00-1C6F-49A9-823D-31B85B76A719}"/>
              </a:ext>
            </a:extLst>
          </p:cNvPr>
          <p:cNvSpPr txBox="1"/>
          <p:nvPr/>
        </p:nvSpPr>
        <p:spPr>
          <a:xfrm>
            <a:off x="2019240" y="3810240"/>
            <a:ext cx="2895479" cy="419040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To view 2 images in sync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3A1FB95-C483-4BE7-B48A-178F9F296F92}"/>
              </a:ext>
            </a:extLst>
          </p:cNvPr>
          <p:cNvSpPr/>
          <p:nvPr/>
        </p:nvSpPr>
        <p:spPr>
          <a:xfrm>
            <a:off x="4881240" y="4188239"/>
            <a:ext cx="210960" cy="828361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1515A4E-4A48-48EF-862B-737D8AB780D5}"/>
              </a:ext>
            </a:extLst>
          </p:cNvPr>
          <p:cNvSpPr/>
          <p:nvPr/>
        </p:nvSpPr>
        <p:spPr>
          <a:xfrm>
            <a:off x="7327440" y="5029200"/>
            <a:ext cx="685799" cy="419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noAutofit/>
          </a:bodyPr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4BCFB-FC49-418A-AC2E-B4F92BFBE72D}"/>
              </a:ext>
            </a:extLst>
          </p:cNvPr>
          <p:cNvSpPr txBox="1"/>
          <p:nvPr/>
        </p:nvSpPr>
        <p:spPr>
          <a:xfrm>
            <a:off x="5816880" y="3143159"/>
            <a:ext cx="3339719" cy="440279"/>
          </a:xfrm>
          <a:prstGeom prst="rect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wrap="none" lIns="108000" tIns="63000" rIns="108000" bIns="63000" anchor="ctr" anchorCtr="0" compatLnSpc="0">
            <a:spAutoFit/>
          </a:bodyPr>
          <a:lstStyle/>
          <a:p>
            <a:pPr marL="0" marR="0" lvl="0" indent="0" algn="ctr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rPr>
              <a:t>To view 1 in the tri-planar view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8601736-10B2-4942-92FB-622FCB172C53}"/>
              </a:ext>
            </a:extLst>
          </p:cNvPr>
          <p:cNvSpPr/>
          <p:nvPr/>
        </p:nvSpPr>
        <p:spPr>
          <a:xfrm>
            <a:off x="5816880" y="3581640"/>
            <a:ext cx="1510560" cy="1447560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purl.oclc.org/ooxml/drawingml/main" xmlns:r="http://purl.oclc.org/ooxml/officeDocument/relationships" xmlns:p="http://purl.oclc.org/ooxml/presentationml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F425-C81F-41E1-B4F5-E15282A0F9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72B8F-9DEE-4490-8257-ABD149D2AADF}"/>
              </a:ext>
            </a:extLst>
          </p:cNvPr>
          <p:cNvSpPr txBox="1"/>
          <p:nvPr/>
        </p:nvSpPr>
        <p:spPr>
          <a:xfrm>
            <a:off x="474120" y="1310400"/>
            <a:ext cx="9071640" cy="59479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Other important modules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Volumetric layering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module defines X layers using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WM-GM and GM-CSF 3D volumes level sets from the CRUISE module</a:t>
            </a:r>
          </a:p>
          <a:p>
            <a:pPr marL="0" marR="0" lvl="1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to create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a 4D volume of defining X+1 surfaces using level sets (_surf.nii) with X+1 volume in the 4</a:t>
            </a:r>
            <a:r>
              <a:rPr lang="en-GB" sz="2200" b="0" i="0" u="none" strike="noStrike" kern="1200" cap="none" baseline="30%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dimension</a:t>
            </a:r>
          </a:p>
          <a:p>
            <a:pPr marL="0" marR="0" lvl="2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a 3D volume layer label defining volume (_labels.nii) with X+1 labels (0 is for anything that is non-cortex).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Profile sampling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will sample the values of an intensity image (like the beta image of a GLM) to create the profiles along the X+1 surfaces defined by the 4D level set files of the layering.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The </a:t>
            </a: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Surface mesh mapping</a:t>
            </a: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can then be used to map those different surfaces by projecting them onto a reference surface (usually the central surface from the segmentation pipeline). The resulting *.vtk files has X+1 surfaces.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E6AD-1CC7-438C-9B71-BBDE6240F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FBABD-0EC4-4CEA-A73C-CD0267797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0.xml><?xml version="1.0" encoding="utf-8"?>
<p:sld xmlns:a="http://purl.oclc.org/ooxml/drawingml/main" xmlns:r="http://purl.oclc.org/ooxml/officeDocument/relationships" xmlns:p="http://purl.oclc.org/ooxml/presentationml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DDA7-B9E1-4AD8-8F47-1F4C30907A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MIPAV and CBS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D7C43-C0B2-4F11-BC0D-9EF281A60900}"/>
              </a:ext>
            </a:extLst>
          </p:cNvPr>
          <p:cNvSpPr txBox="1"/>
          <p:nvPr/>
        </p:nvSpPr>
        <p:spPr>
          <a:xfrm>
            <a:off x="474120" y="1159560"/>
            <a:ext cx="9071640" cy="6249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sng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uFillTx/>
                <a:latin typeface="Liberation Sans" pitchFamily="18"/>
                <a:ea typeface="Noto Sans CJK SC Regular" pitchFamily="2"/>
                <a:cs typeface="FreeSans" pitchFamily="2"/>
              </a:rPr>
              <a:t>Other important modules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Smooth surface mesh data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will smooth the data along a surface (*.vtk) with a given FWHM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Level set to mesh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converts a level set to a .vtk surface (no inflation).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Embedded Syn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does non linear co-registration and can for example be used to correct for motion X inhomogeneity interactions.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It requires to install the Advanced Normalization Tools 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  <a:hlinkClick r:id="rId3"/>
              </a:rPr>
              <a:t>http://stnava.github.io/ANTs/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and will only work on linux as it calls some bash scripts (see the layer-fmri-analysis.Layout for a very simple example)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Multimodal surface registration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for surface based registration</a:t>
            </a: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endParaRPr lang="en-GB" sz="2200" b="0" i="0" u="none" strike="noStrike" kern="1200" cap="none">
              <a:ln>
                <a:noFill/>
              </a:ln>
              <a:highlight>
                <a:scrgbClr r="0%" g="0%" b="0%">
                  <a:alpha val="0%"/>
                </a:scrgbClr>
              </a:highlight>
              <a:latin typeface="Liberation Sans" pitchFamily="18"/>
              <a:ea typeface="Noto Sans CJK SC Regular" pitchFamily="2"/>
              <a:cs typeface="FreeSans" pitchFamily="2"/>
            </a:endParaRPr>
          </a:p>
          <a:p>
            <a:pPr marL="0" marR="0" lvl="0" indent="0" algn="l" hangingPunct="0">
              <a:buSzPct val="45%"/>
              <a:buFont typeface="StarSymbol"/>
              <a:buChar char="●"/>
              <a:tabLst/>
            </a:pPr>
            <a:r>
              <a:rPr lang="en-GB" sz="2200" b="1" i="1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Mesh data to volume</a:t>
            </a:r>
            <a:r>
              <a:rPr lang="en-GB" sz="2200" b="0" i="0" u="none" strike="noStrike" kern="1200" cap="none">
                <a:ln>
                  <a:noFill/>
                </a:ln>
                <a:highlight>
                  <a:scrgbClr r="0%" g="0%" b="0%">
                    <a:alpha val="0%"/>
                  </a:scrgbClr>
                </a:highlight>
                <a:latin typeface="Liberation Sans" pitchFamily="18"/>
                <a:ea typeface="Noto Sans CJK SC Regular" pitchFamily="2"/>
                <a:cs typeface="FreeSans" pitchFamily="2"/>
              </a:rPr>
              <a:t> to map a surface onto a volume: needs a reference volume for dimensions, also make sure that the surface you input in non-inflated. Necessary to define in a volume a ROI drawn on a surface.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1330</TotalTime>
  <Words>2036</Words>
  <Application>Microsoft Office PowerPoint</Application>
  <PresentationFormat>Widescreen</PresentationFormat>
  <Paragraphs>264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DejaVu Sans</vt:lpstr>
      <vt:lpstr>FreeSans</vt:lpstr>
      <vt:lpstr>Liberation Sans</vt:lpstr>
      <vt:lpstr>Liberation Serif</vt:lpstr>
      <vt:lpstr>Noto Sans CJK SC Regular</vt:lpstr>
      <vt:lpstr>StarSymbol</vt:lpstr>
      <vt:lpstr>Default</vt:lpstr>
      <vt:lpstr>MIPAV and CBS tools</vt:lpstr>
      <vt:lpstr>MIPAV and CBS tools</vt:lpstr>
      <vt:lpstr>MIPAV and CBS tools</vt:lpstr>
      <vt:lpstr>MIPAV and CBS tools</vt:lpstr>
      <vt:lpstr>Python wrappers</vt:lpstr>
      <vt:lpstr>PowerPoint Presentation</vt:lpstr>
      <vt:lpstr>VTK files</vt:lpstr>
      <vt:lpstr>VTK files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MIPAV and CBS tools</vt:lpstr>
      <vt:lpstr>PowerPoint Presentation</vt:lpstr>
      <vt:lpstr>MIPAV and CBS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MIPAV and CBS tools</dc:title>
  <dc:creator>Remi</dc:creator>
  <cp:lastModifiedBy>Remi gau</cp:lastModifiedBy>
  <cp:revision>20</cp:revision>
  <dcterms:created xsi:type="dcterms:W3CDTF">2017-01-30T08:25:23Z</dcterms:created>
  <dcterms:modified xsi:type="dcterms:W3CDTF">2018-11-12T09:28:16Z</dcterms:modified>
</cp:coreProperties>
</file>